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galin" charset="1" panose="00000500000000000000"/>
      <p:regular r:id="rId16"/>
    </p:embeddedFon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2019" y="1662085"/>
            <a:ext cx="12483962" cy="75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</a:p>
          <a:p>
            <a:pPr algn="ctr">
              <a:lnSpc>
                <a:spcPts val="7572"/>
              </a:lnSpc>
            </a:pPr>
            <a:r>
              <a:rPr lang="en-US" sz="8805" spc="-41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RaahiBima </a:t>
            </a:r>
          </a:p>
          <a:p>
            <a:pPr algn="ctr">
              <a:lnSpc>
                <a:spcPts val="5938"/>
              </a:lnSpc>
            </a:pPr>
          </a:p>
          <a:p>
            <a:pPr algn="ctr">
              <a:lnSpc>
                <a:spcPts val="2958"/>
              </a:lnSpc>
            </a:pPr>
            <a:r>
              <a:rPr lang="en-US" b="true" sz="3440" spc="-16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Parametric Income Protection for Q-Commerce Delivery Partners.</a:t>
            </a:r>
          </a:p>
          <a:p>
            <a:pPr algn="ctr">
              <a:lnSpc>
                <a:spcPts val="2958"/>
              </a:lnSpc>
            </a:pPr>
          </a:p>
          <a:p>
            <a:pPr algn="ctr">
              <a:lnSpc>
                <a:spcPts val="2958"/>
              </a:lnSpc>
            </a:pPr>
          </a:p>
          <a:p>
            <a:pPr algn="ctr">
              <a:lnSpc>
                <a:spcPts val="2292"/>
              </a:lnSpc>
            </a:pPr>
            <a:r>
              <a:rPr lang="en-US" b="true" sz="2665" spc="-1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Statement: </a:t>
            </a:r>
            <a:r>
              <a:rPr lang="en-US" b="true" sz="2665" spc="-1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AI-Powered Insurance for India’s Gig Economy </a:t>
            </a:r>
          </a:p>
          <a:p>
            <a:pPr algn="ctr">
              <a:lnSpc>
                <a:spcPts val="2292"/>
              </a:lnSpc>
            </a:pPr>
          </a:p>
          <a:p>
            <a:pPr algn="ctr">
              <a:lnSpc>
                <a:spcPts val="2292"/>
              </a:lnSpc>
            </a:pPr>
            <a:r>
              <a:rPr lang="en-US" b="true" sz="2665" spc="-1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Guidewire DEVTrails | 2026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ctr">
              <a:lnSpc>
                <a:spcPts val="2185"/>
              </a:lnSpc>
            </a:pPr>
            <a:r>
              <a:rPr lang="en-US" b="true" sz="2540" spc="-1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ctr">
              <a:lnSpc>
                <a:spcPts val="2185"/>
              </a:lnSpc>
            </a:pPr>
          </a:p>
          <a:p>
            <a:pPr algn="ctr">
              <a:lnSpc>
                <a:spcPts val="2498"/>
              </a:lnSpc>
            </a:pPr>
            <a:r>
              <a:rPr lang="en-US" b="true" sz="2905" spc="-13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 MARVELS</a:t>
            </a:r>
          </a:p>
          <a:p>
            <a:pPr algn="ctr">
              <a:lnSpc>
                <a:spcPts val="25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544560" y="-1455940"/>
            <a:ext cx="13198881" cy="13198881"/>
            <a:chOff x="0" y="0"/>
            <a:chExt cx="17598508" cy="17598508"/>
          </a:xfrm>
        </p:grpSpPr>
        <p:grpSp>
          <p:nvGrpSpPr>
            <p:cNvPr name="Group 5" id="5"/>
            <p:cNvGrpSpPr/>
            <p:nvPr/>
          </p:nvGrpSpPr>
          <p:grpSpPr>
            <a:xfrm rot="566727">
              <a:off x="1151392" y="1151392"/>
              <a:ext cx="15295723" cy="1529572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100"/>
                    </a:srgbClr>
                  </a:gs>
                  <a:gs pos="25000">
                    <a:srgbClr val="FFFFFF">
                      <a:alpha val="3000"/>
                    </a:srgbClr>
                  </a:gs>
                  <a:gs pos="50000">
                    <a:srgbClr val="FFFFFF">
                      <a:alpha val="2000"/>
                    </a:srgbClr>
                  </a:gs>
                  <a:gs pos="75000">
                    <a:srgbClr val="FFFFFF">
                      <a:alpha val="3000"/>
                    </a:srgbClr>
                  </a:gs>
                  <a:gs pos="100000">
                    <a:srgbClr val="FFFFFF">
                      <a:alpha val="2000"/>
                    </a:srgbClr>
                  </a:gs>
                </a:gsLst>
                <a:lin ang="2700000"/>
              </a:gradFill>
              <a:ln w="19050" cap="rnd">
                <a:solidFill>
                  <a:srgbClr val="FFFFFF">
                    <a:alpha val="19608"/>
                  </a:srgbClr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566727">
              <a:off x="3833977" y="3664118"/>
              <a:ext cx="10270272" cy="10270272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2100"/>
                    </a:srgbClr>
                  </a:gs>
                  <a:gs pos="25000">
                    <a:srgbClr val="FFFFFF">
                      <a:alpha val="3000"/>
                    </a:srgbClr>
                  </a:gs>
                  <a:gs pos="50000">
                    <a:srgbClr val="FFFFFF">
                      <a:alpha val="2000"/>
                    </a:srgbClr>
                  </a:gs>
                  <a:gs pos="75000">
                    <a:srgbClr val="FFFFFF">
                      <a:alpha val="3000"/>
                    </a:srgbClr>
                  </a:gs>
                  <a:gs pos="100000">
                    <a:srgbClr val="FFFFFF">
                      <a:alpha val="2000"/>
                    </a:srgbClr>
                  </a:gs>
                </a:gsLst>
                <a:lin ang="2700000"/>
              </a:gradFill>
              <a:ln w="19050" cap="rnd">
                <a:solidFill>
                  <a:srgbClr val="FFFFFF">
                    <a:alpha val="19608"/>
                  </a:srgbClr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073719">
            <a:off x="-570592" y="-4539507"/>
            <a:ext cx="19366015" cy="1936601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45"/>
                  </a:srgbClr>
                </a:gs>
                <a:gs pos="25000">
                  <a:srgbClr val="FFFFFF">
                    <a:alpha val="1350"/>
                  </a:srgbClr>
                </a:gs>
                <a:gs pos="50000">
                  <a:srgbClr val="FFFFFF">
                    <a:alpha val="900"/>
                  </a:srgbClr>
                </a:gs>
                <a:gs pos="75000">
                  <a:srgbClr val="FFFFFF">
                    <a:alpha val="1350"/>
                  </a:srgbClr>
                </a:gs>
                <a:gs pos="100000">
                  <a:srgbClr val="FFFFFF">
                    <a:alpha val="9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073719">
            <a:off x="2774663" y="-1149785"/>
            <a:ext cx="12586569" cy="125865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45"/>
                  </a:srgbClr>
                </a:gs>
                <a:gs pos="25000">
                  <a:srgbClr val="FFFFFF">
                    <a:alpha val="1350"/>
                  </a:srgbClr>
                </a:gs>
                <a:gs pos="50000">
                  <a:srgbClr val="FFFFFF">
                    <a:alpha val="900"/>
                  </a:srgbClr>
                </a:gs>
                <a:gs pos="75000">
                  <a:srgbClr val="FFFFFF">
                    <a:alpha val="1350"/>
                  </a:srgbClr>
                </a:gs>
                <a:gs pos="100000">
                  <a:srgbClr val="FFFFFF">
                    <a:alpha val="9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1202" y="3996045"/>
            <a:ext cx="4871842" cy="2528429"/>
            <a:chOff x="0" y="0"/>
            <a:chExt cx="1833774" cy="9517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32027" y="7119520"/>
            <a:ext cx="4871842" cy="2528429"/>
            <a:chOff x="0" y="0"/>
            <a:chExt cx="1833774" cy="9517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5B4FF">
                    <a:alpha val="100000"/>
                  </a:srgbClr>
                </a:gs>
                <a:gs pos="100000">
                  <a:srgbClr val="E393E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34919" y="3996045"/>
            <a:ext cx="5024381" cy="2528429"/>
            <a:chOff x="0" y="0"/>
            <a:chExt cx="1891190" cy="9517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1190" cy="951707"/>
            </a:xfrm>
            <a:custGeom>
              <a:avLst/>
              <a:gdLst/>
              <a:ahLst/>
              <a:cxnLst/>
              <a:rect r="r" b="b" t="t" l="l"/>
              <a:pathLst>
                <a:path h="951707" w="1891190">
                  <a:moveTo>
                    <a:pt x="78584" y="0"/>
                  </a:moveTo>
                  <a:lnTo>
                    <a:pt x="1812606" y="0"/>
                  </a:lnTo>
                  <a:cubicBezTo>
                    <a:pt x="1833448" y="0"/>
                    <a:pt x="1853436" y="8279"/>
                    <a:pt x="1868173" y="23017"/>
                  </a:cubicBezTo>
                  <a:cubicBezTo>
                    <a:pt x="1882911" y="37754"/>
                    <a:pt x="1891190" y="57743"/>
                    <a:pt x="1891190" y="78584"/>
                  </a:cubicBezTo>
                  <a:lnTo>
                    <a:pt x="1891190" y="873123"/>
                  </a:lnTo>
                  <a:cubicBezTo>
                    <a:pt x="1891190" y="893965"/>
                    <a:pt x="1882911" y="913953"/>
                    <a:pt x="1868173" y="928691"/>
                  </a:cubicBezTo>
                  <a:cubicBezTo>
                    <a:pt x="1853436" y="943428"/>
                    <a:pt x="1833448" y="951707"/>
                    <a:pt x="1812606" y="951707"/>
                  </a:cubicBezTo>
                  <a:lnTo>
                    <a:pt x="78584" y="951707"/>
                  </a:lnTo>
                  <a:cubicBezTo>
                    <a:pt x="57743" y="951707"/>
                    <a:pt x="37754" y="943428"/>
                    <a:pt x="23017" y="928691"/>
                  </a:cubicBezTo>
                  <a:cubicBezTo>
                    <a:pt x="8279" y="913953"/>
                    <a:pt x="0" y="893965"/>
                    <a:pt x="0" y="873123"/>
                  </a:cubicBezTo>
                  <a:lnTo>
                    <a:pt x="0" y="78584"/>
                  </a:lnTo>
                  <a:cubicBezTo>
                    <a:pt x="0" y="57743"/>
                    <a:pt x="8279" y="37754"/>
                    <a:pt x="23017" y="23017"/>
                  </a:cubicBezTo>
                  <a:cubicBezTo>
                    <a:pt x="37754" y="8279"/>
                    <a:pt x="57743" y="0"/>
                    <a:pt x="785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45C4">
                    <a:alpha val="100000"/>
                  </a:srgbClr>
                </a:gs>
                <a:gs pos="100000">
                  <a:srgbClr val="AD64DD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891190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33355" y="7119520"/>
            <a:ext cx="4870513" cy="2528429"/>
            <a:chOff x="0" y="0"/>
            <a:chExt cx="1833274" cy="9517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07181" y="3996045"/>
            <a:ext cx="4870513" cy="2528429"/>
            <a:chOff x="0" y="0"/>
            <a:chExt cx="1833274" cy="9517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85414" y="1333357"/>
            <a:ext cx="15317172" cy="153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10286" spc="-4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Team: Marvels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92276" y="4180426"/>
            <a:ext cx="1924847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0E06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Aasha Kumari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28197" y="7361582"/>
            <a:ext cx="1924847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0E06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Trupti Jain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8125" y="4180426"/>
            <a:ext cx="283222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Vaibhav Shrivastava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17590" y="4180426"/>
            <a:ext cx="1924847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Aritra Maji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0535" y="7361582"/>
            <a:ext cx="2877669" cy="159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spc="-16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Shreshth </a:t>
            </a:r>
          </a:p>
          <a:p>
            <a:pPr algn="l">
              <a:lnSpc>
                <a:spcPts val="4679"/>
              </a:lnSpc>
            </a:pPr>
            <a:r>
              <a:rPr lang="en-US" sz="3999" spc="-16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Sinha</a:t>
            </a:r>
          </a:p>
          <a:p>
            <a:pPr algn="l">
              <a:lnSpc>
                <a:spcPts val="3112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030066" y="5614688"/>
            <a:ext cx="2719351" cy="48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07"/>
              </a:lnSpc>
            </a:pPr>
            <a:r>
              <a:rPr lang="en-US" sz="2799" spc="-64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84235" y="5675263"/>
            <a:ext cx="3104418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9"/>
              </a:lnSpc>
            </a:pPr>
            <a:r>
              <a:rPr lang="en-US" sz="2499" spc="-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- 3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57915" y="8772271"/>
            <a:ext cx="2719351" cy="48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07"/>
              </a:lnSpc>
            </a:pPr>
            <a:r>
              <a:rPr lang="en-US" sz="2799" spc="-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- 4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15916" y="8907795"/>
            <a:ext cx="3104418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9"/>
              </a:lnSpc>
            </a:pPr>
            <a:r>
              <a:rPr lang="en-US" sz="2499" spc="-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- 5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08964" y="5614688"/>
            <a:ext cx="2719351" cy="48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07"/>
              </a:lnSpc>
            </a:pPr>
            <a:r>
              <a:rPr lang="en-US" sz="2799" spc="-6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- 2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4983331" y="-4810605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177209" y="-2151077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1869" y="1515537"/>
            <a:ext cx="9455770" cy="835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3627" indent="-276814" lvl="1">
              <a:lnSpc>
                <a:spcPts val="3000"/>
              </a:lnSpc>
              <a:buFont typeface="Arial"/>
              <a:buChar char="•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India’s Q-commerce ecosystem depends on millions of delivery partners working on a daily earning model.</a:t>
            </a:r>
          </a:p>
          <a:p>
            <a:pPr algn="just" marL="553627" indent="-276814" lvl="1">
              <a:lnSpc>
                <a:spcPts val="3000"/>
              </a:lnSpc>
              <a:buFont typeface="Arial"/>
              <a:buChar char="•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income is directly tied to physical ability to work.</a:t>
            </a:r>
          </a:p>
          <a:p>
            <a:pPr algn="just">
              <a:lnSpc>
                <a:spcPts val="3480"/>
              </a:lnSpc>
            </a:pPr>
          </a:p>
          <a:p>
            <a:pPr algn="just">
              <a:lnSpc>
                <a:spcPts val="3480"/>
              </a:lnSpc>
            </a:pPr>
            <a:r>
              <a:rPr lang="en-US" b="true" sz="2974" spc="-12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 GAP:</a:t>
            </a:r>
          </a:p>
          <a:p>
            <a:pPr algn="just">
              <a:lnSpc>
                <a:spcPts val="3480"/>
              </a:lnSpc>
            </a:pPr>
            <a:r>
              <a:rPr lang="en-US" b="true" sz="2974" spc="-124">
                <a:gradFill>
                  <a:gsLst>
                    <a:gs pos="0">
                      <a:srgbClr val="9245C4">
                        <a:alpha val="100000"/>
                      </a:srgbClr>
                    </a:gs>
                    <a:gs pos="100000">
                      <a:srgbClr val="AD64DD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External disruptions like:</a:t>
            </a:r>
          </a:p>
          <a:p>
            <a:pPr algn="just" marL="553627" indent="-276814" lvl="1">
              <a:lnSpc>
                <a:spcPts val="3000"/>
              </a:lnSpc>
              <a:buAutoNum type="arabicPeriod" startAt="1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Heavy rainfall</a:t>
            </a:r>
          </a:p>
          <a:p>
            <a:pPr algn="just" marL="553627" indent="-276814" lvl="1">
              <a:lnSpc>
                <a:spcPts val="3000"/>
              </a:lnSpc>
              <a:buAutoNum type="arabicPeriod" startAt="1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Extreme heat</a:t>
            </a:r>
          </a:p>
          <a:p>
            <a:pPr algn="just" marL="553627" indent="-276814" lvl="1">
              <a:lnSpc>
                <a:spcPts val="3000"/>
              </a:lnSpc>
              <a:buAutoNum type="arabicPeriod" startAt="1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Hazardous air quality</a:t>
            </a:r>
          </a:p>
          <a:p>
            <a:pPr algn="just" marL="553627" indent="-276814" lvl="1">
              <a:lnSpc>
                <a:spcPts val="3000"/>
              </a:lnSpc>
              <a:buAutoNum type="arabicPeriod" startAt="1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Civic restrictions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2871" spc="-1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 this external disruptions c</a:t>
            </a:r>
            <a:r>
              <a:rPr lang="en-US" b="true" sz="2871" spc="-1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instantly stop work!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system today that compensates income loss from these events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363"/>
              </a:lnSpc>
            </a:pPr>
            <a:r>
              <a:rPr lang="en-US" b="true" sz="2874" spc="-1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matters:</a:t>
            </a:r>
          </a:p>
          <a:p>
            <a:pPr algn="l" marL="553627" indent="-276814" lvl="1">
              <a:lnSpc>
                <a:spcPts val="3000"/>
              </a:lnSpc>
              <a:buFont typeface="Arial"/>
              <a:buChar char="•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⁠Even a “2–3 hour disruption can cut 30–40% of daily earnings”</a:t>
            </a:r>
          </a:p>
          <a:p>
            <a:pPr algn="l" marL="553627" indent="-276814" lvl="1">
              <a:lnSpc>
                <a:spcPts val="3000"/>
              </a:lnSpc>
              <a:buFont typeface="Arial"/>
              <a:buChar char="•"/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workers have no savings or fallback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357"/>
              </a:lnSpc>
            </a:pPr>
            <a:r>
              <a:rPr lang="en-US" b="true" sz="2869" spc="-1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What’s missing in the world:</a:t>
            </a:r>
          </a:p>
          <a:p>
            <a:pPr algn="just">
              <a:lnSpc>
                <a:spcPts val="3000"/>
              </a:lnSpc>
            </a:pPr>
            <a:r>
              <a:rPr lang="en-US" sz="2564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 that protects  “earning continuity”, not just life or assets.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625275" y="2639181"/>
            <a:ext cx="8341771" cy="6262447"/>
            <a:chOff x="0" y="0"/>
            <a:chExt cx="8916670" cy="6694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16225" t="0" r="-16225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A453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00495" y="196822"/>
            <a:ext cx="1788701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  <a:r>
              <a:rPr lang="en-US" sz="6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: What’s Missing Today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0667" y="1841152"/>
            <a:ext cx="10103452" cy="741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RaahiBima is an  “AI-powered parametric income protection system”.</a:t>
            </a:r>
          </a:p>
          <a:p>
            <a:pPr algn="l">
              <a:lnSpc>
                <a:spcPts val="3313"/>
              </a:lnSpc>
            </a:pPr>
          </a:p>
          <a:p>
            <a:pPr algn="l">
              <a:lnSpc>
                <a:spcPts val="3313"/>
              </a:lnSpc>
            </a:pPr>
            <a:r>
              <a:rPr lang="en-US" sz="2831" spc="-11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we do: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real-world disruptions automatically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income loss based on time and earnings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“instant payouts via UPI”.</a:t>
            </a:r>
          </a:p>
          <a:p>
            <a:pPr algn="l">
              <a:lnSpc>
                <a:spcPts val="3313"/>
              </a:lnSpc>
            </a:pPr>
          </a:p>
          <a:p>
            <a:pPr algn="l">
              <a:lnSpc>
                <a:spcPts val="3313"/>
              </a:lnSpc>
            </a:pPr>
            <a:r>
              <a:rPr lang="en-US" sz="2831" spc="-11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we don’t do: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health insurance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accident coverage</a:t>
            </a:r>
          </a:p>
          <a:p>
            <a:pPr algn="l" marL="611415" indent="-305707" lvl="1">
              <a:lnSpc>
                <a:spcPts val="3313"/>
              </a:lnSpc>
              <a:buFont typeface="Arial"/>
              <a:buChar char="•"/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vehicle insurance</a:t>
            </a:r>
          </a:p>
          <a:p>
            <a:pPr algn="l">
              <a:lnSpc>
                <a:spcPts val="3313"/>
              </a:lnSpc>
            </a:pPr>
          </a:p>
          <a:p>
            <a:pPr algn="l">
              <a:lnSpc>
                <a:spcPts val="3313"/>
              </a:lnSpc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focus on  “</a:t>
            </a:r>
            <a:r>
              <a:rPr lang="en-US" sz="2831" spc="-11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thing only: lost income</a:t>
            </a: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”.</a:t>
            </a:r>
          </a:p>
          <a:p>
            <a:pPr algn="l">
              <a:lnSpc>
                <a:spcPts val="3313"/>
              </a:lnSpc>
            </a:pPr>
          </a:p>
          <a:p>
            <a:pPr algn="l">
              <a:lnSpc>
                <a:spcPts val="3313"/>
              </a:lnSpc>
            </a:pPr>
            <a:r>
              <a:rPr lang="en-US" sz="2831" spc="-11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principle:</a:t>
            </a:r>
          </a:p>
          <a:p>
            <a:pPr algn="l">
              <a:lnSpc>
                <a:spcPts val="3313"/>
              </a:lnSpc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rider cannot work due to verified external conditions,</a:t>
            </a:r>
          </a:p>
          <a:p>
            <a:pPr algn="l">
              <a:lnSpc>
                <a:spcPts val="3313"/>
              </a:lnSpc>
            </a:pPr>
            <a:r>
              <a:rPr lang="en-US" sz="2831" spc="-11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compensated automatically.</a:t>
            </a:r>
          </a:p>
          <a:p>
            <a:pPr algn="l">
              <a:lnSpc>
                <a:spcPts val="3313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752303" y="2285826"/>
            <a:ext cx="8412657" cy="6313870"/>
            <a:chOff x="0" y="0"/>
            <a:chExt cx="8909050" cy="66864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525" y="9525"/>
              <a:ext cx="8890000" cy="6667373"/>
            </a:xfrm>
            <a:custGeom>
              <a:avLst/>
              <a:gdLst/>
              <a:ahLst/>
              <a:cxnLst/>
              <a:rect r="r" b="b" t="t" l="l"/>
              <a:pathLst>
                <a:path h="6667373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667373"/>
                  </a:lnTo>
                  <a:lnTo>
                    <a:pt x="0" y="666737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2372" y="372872"/>
              <a:ext cx="8544306" cy="5940679"/>
            </a:xfrm>
            <a:custGeom>
              <a:avLst/>
              <a:gdLst/>
              <a:ahLst/>
              <a:cxnLst/>
              <a:rect r="r" b="b" t="t" l="l"/>
              <a:pathLst>
                <a:path h="5940679" w="8544306">
                  <a:moveTo>
                    <a:pt x="0" y="0"/>
                  </a:moveTo>
                  <a:lnTo>
                    <a:pt x="8544306" y="0"/>
                  </a:lnTo>
                  <a:lnTo>
                    <a:pt x="8544306" y="5940679"/>
                  </a:lnTo>
                  <a:lnTo>
                    <a:pt x="0" y="5940679"/>
                  </a:lnTo>
                  <a:close/>
                </a:path>
              </a:pathLst>
            </a:custGeom>
            <a:blipFill>
              <a:blip r:embed="rId3"/>
              <a:stretch>
                <a:fillRect l="-2240" t="0" r="-224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09050" cy="6686423"/>
            </a:xfrm>
            <a:custGeom>
              <a:avLst/>
              <a:gdLst/>
              <a:ahLst/>
              <a:cxnLst/>
              <a:rect r="r" b="b" t="t" l="l"/>
              <a:pathLst>
                <a:path h="6686423" w="8909050">
                  <a:moveTo>
                    <a:pt x="8909050" y="6686423"/>
                  </a:moveTo>
                  <a:lnTo>
                    <a:pt x="0" y="6686423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6686423"/>
                  </a:lnTo>
                  <a:close/>
                  <a:moveTo>
                    <a:pt x="19050" y="6667373"/>
                  </a:moveTo>
                  <a:lnTo>
                    <a:pt x="8890000" y="6667373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6667373"/>
                  </a:lnTo>
                  <a:close/>
                  <a:moveTo>
                    <a:pt x="8736203" y="6323076"/>
                  </a:moveTo>
                  <a:lnTo>
                    <a:pt x="172847" y="6323076"/>
                  </a:lnTo>
                  <a:lnTo>
                    <a:pt x="172847" y="363347"/>
                  </a:lnTo>
                  <a:lnTo>
                    <a:pt x="8736203" y="363347"/>
                  </a:lnTo>
                  <a:lnTo>
                    <a:pt x="8736203" y="6323076"/>
                  </a:lnTo>
                  <a:close/>
                  <a:moveTo>
                    <a:pt x="191897" y="6304026"/>
                  </a:moveTo>
                  <a:lnTo>
                    <a:pt x="8717153" y="6304026"/>
                  </a:lnTo>
                  <a:lnTo>
                    <a:pt x="8717153" y="382397"/>
                  </a:lnTo>
                  <a:lnTo>
                    <a:pt x="191897" y="382397"/>
                  </a:lnTo>
                  <a:lnTo>
                    <a:pt x="191897" y="6304026"/>
                  </a:lnTo>
                  <a:close/>
                </a:path>
              </a:pathLst>
            </a:custGeom>
            <a:solidFill>
              <a:srgbClr val="41365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45292" y="176963"/>
            <a:ext cx="1804270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45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Our Solution: RaahiBima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1070" y="2546880"/>
            <a:ext cx="4871842" cy="2528429"/>
            <a:chOff x="0" y="0"/>
            <a:chExt cx="1833774" cy="951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1833774" cy="875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50"/>
                </a:lnSpc>
              </a:pP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⁠System continuously monitors:</a:t>
              </a:r>
            </a:p>
            <a:p>
              <a:pPr algn="l">
                <a:lnSpc>
                  <a:spcPts val="2550"/>
                </a:lnSpc>
              </a:pP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  <a:p>
              <a:pPr algn="l">
                <a:lnSpc>
                  <a:spcPts val="2550"/>
                </a:lnSpc>
              </a:pP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Weather</a:t>
              </a:r>
            </a:p>
            <a:p>
              <a:pPr algn="l">
                <a:lnSpc>
                  <a:spcPts val="2550"/>
                </a:lnSpc>
              </a:pP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-Air quality</a:t>
              </a:r>
            </a:p>
            <a:p>
              <a:pPr algn="l">
                <a:lnSpc>
                  <a:spcPts val="2550"/>
                </a:lnSpc>
                <a:spcBef>
                  <a:spcPct val="0"/>
                </a:spcBef>
              </a:pP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r>
                <a:rPr lang="en-US" sz="3000" spc="-22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Government alerts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69884" y="2625539"/>
            <a:ext cx="4871842" cy="2528429"/>
            <a:chOff x="0" y="0"/>
            <a:chExt cx="1833774" cy="951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5B4FF">
                    <a:alpha val="100000"/>
                  </a:srgbClr>
                </a:gs>
                <a:gs pos="100000">
                  <a:srgbClr val="E393E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11996" y="2625539"/>
            <a:ext cx="4870513" cy="2528429"/>
            <a:chOff x="0" y="0"/>
            <a:chExt cx="1833274" cy="9517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45C4">
                    <a:alpha val="100000"/>
                  </a:srgbClr>
                </a:gs>
                <a:gs pos="100000">
                  <a:srgbClr val="AD64DD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34367" y="5563987"/>
            <a:ext cx="14893766" cy="4375044"/>
          </a:xfrm>
          <a:custGeom>
            <a:avLst/>
            <a:gdLst/>
            <a:ahLst/>
            <a:cxnLst/>
            <a:rect r="r" b="b" t="t" l="l"/>
            <a:pathLst>
              <a:path h="4375044" w="14893766">
                <a:moveTo>
                  <a:pt x="0" y="0"/>
                </a:moveTo>
                <a:lnTo>
                  <a:pt x="14893766" y="0"/>
                </a:lnTo>
                <a:lnTo>
                  <a:pt x="14893766" y="4375043"/>
                </a:lnTo>
                <a:lnTo>
                  <a:pt x="0" y="437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4367" y="530850"/>
            <a:ext cx="15317172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000" spc="-25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Project Architecture and Workflow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00288" y="2728836"/>
            <a:ext cx="4127598" cy="280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</a:pPr>
            <a:r>
              <a:rPr lang="en-US" sz="274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and fraud checks are applied.</a:t>
            </a:r>
          </a:p>
          <a:p>
            <a:pPr algn="l">
              <a:lnSpc>
                <a:spcPts val="3206"/>
              </a:lnSpc>
            </a:pPr>
            <a:r>
              <a:rPr lang="en-US" sz="274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Payout is sent instantly:</a:t>
            </a:r>
          </a:p>
          <a:p>
            <a:pPr algn="l" marL="591734" indent="-295867" lvl="1">
              <a:lnSpc>
                <a:spcPts val="3206"/>
              </a:lnSpc>
              <a:buFont typeface="Arial"/>
              <a:buChar char="•"/>
            </a:pPr>
            <a:r>
              <a:rPr lang="en-US" sz="274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claims. </a:t>
            </a:r>
          </a:p>
          <a:p>
            <a:pPr algn="l" marL="591734" indent="-295867" lvl="1">
              <a:lnSpc>
                <a:spcPts val="3206"/>
              </a:lnSpc>
              <a:buFont typeface="Arial"/>
              <a:buChar char="•"/>
            </a:pPr>
            <a:r>
              <a:rPr lang="en-US" sz="274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paperwork. </a:t>
            </a:r>
          </a:p>
          <a:p>
            <a:pPr algn="l" marL="591734" indent="-295867" lvl="1">
              <a:lnSpc>
                <a:spcPts val="3206"/>
              </a:lnSpc>
              <a:buFont typeface="Arial"/>
              <a:buChar char="•"/>
            </a:pPr>
            <a:r>
              <a:rPr lang="en-US" sz="274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delays.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069884" y="2728836"/>
            <a:ext cx="4871842" cy="265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disruption is confirmed using</a:t>
            </a:r>
            <a:r>
              <a:rPr lang="en-US" sz="3000" spc="-126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“multiple data sources”.</a:t>
            </a: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sz="3000" spc="-126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calculates:</a:t>
            </a: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sz="3000" spc="-126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 of disruption</a:t>
            </a: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sz="3000" spc="-126">
                <a:solidFill>
                  <a:srgbClr val="0E06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earnings loss</a:t>
            </a:r>
          </a:p>
          <a:p>
            <a:pPr algn="l">
              <a:lnSpc>
                <a:spcPts val="350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0451951" y="3721633"/>
            <a:ext cx="10178180" cy="101781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0492" y="2235374"/>
            <a:ext cx="18288000" cy="615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insurance =  reactive + manual claims.</a:t>
            </a: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⁠RaahiBima = automatic + real-time payouts</a:t>
            </a:r>
          </a:p>
          <a:p>
            <a:pPr algn="l">
              <a:lnSpc>
                <a:spcPts val="3275"/>
              </a:lnSpc>
            </a:pPr>
          </a:p>
          <a:p>
            <a:pPr algn="l">
              <a:lnSpc>
                <a:spcPts val="3743"/>
              </a:lnSpc>
            </a:pPr>
            <a:r>
              <a:rPr lang="en-US" sz="3199" spc="-134" b="true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innovations:</a:t>
            </a:r>
          </a:p>
          <a:p>
            <a:pPr algn="l">
              <a:lnSpc>
                <a:spcPts val="3275"/>
              </a:lnSpc>
            </a:pP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⁠Parametric triggers (data-driven, not claim-driven)</a:t>
            </a: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⁠Income-focused coverage (not asset-focused)</a:t>
            </a: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⁠GigTrust scoring system for reliability</a:t>
            </a: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⁠Weekly dynamic pricing based on risk</a:t>
            </a: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⁠Fully automated claim lifecycle</a:t>
            </a:r>
          </a:p>
          <a:p>
            <a:pPr algn="l">
              <a:lnSpc>
                <a:spcPts val="3275"/>
              </a:lnSpc>
            </a:pPr>
          </a:p>
          <a:p>
            <a:pPr algn="l">
              <a:lnSpc>
                <a:spcPts val="3275"/>
              </a:lnSpc>
            </a:pPr>
            <a:r>
              <a:rPr lang="en-US" sz="2799" spc="-1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creates a “new category of insurance: income continuity insurance”.</a:t>
            </a:r>
          </a:p>
          <a:p>
            <a:pPr algn="l">
              <a:lnSpc>
                <a:spcPts val="3275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743302" y="2874879"/>
            <a:ext cx="7906726" cy="5935844"/>
            <a:chOff x="0" y="0"/>
            <a:chExt cx="8916670" cy="6694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5663" t="0" r="-566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41365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86920" y="698167"/>
            <a:ext cx="915166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45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Novelty — Why This Is Different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4240293" y="-3978498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7150129" y="-1068662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0034" y="1038225"/>
            <a:ext cx="18288000" cy="1051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</a:p>
          <a:p>
            <a:pPr algn="l">
              <a:lnSpc>
                <a:spcPts val="3392"/>
              </a:lnSpc>
            </a:pPr>
            <a:r>
              <a:rPr lang="en-US" sz="2899" spc="-121" b="true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Direct impact: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Protects daily earnings of gig workers</a:t>
            </a: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⁠Reduces financial stress and uncertainty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392"/>
              </a:lnSpc>
            </a:pPr>
            <a:r>
              <a:rPr lang="en-US" sz="2899" spc="-121" b="true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Indirect impact: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⁠Improves worker retention for platforms</a:t>
            </a: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⁠Builds trust in gig economy systems</a:t>
            </a: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⁠Encourages more people to participate in flexible work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392"/>
              </a:lnSpc>
            </a:pPr>
            <a:r>
              <a:rPr lang="en-US" sz="2899" spc="-121" b="true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Quality of life improvement: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⁠Stable income → better financial planning</a:t>
            </a: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⁠Reduced risk → improved mental well-being</a:t>
            </a: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⁠Faster payouts → immediate support when needed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  <a:r>
              <a:rPr lang="en-US" sz="2700" spc="-1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not just solving a financial problem — we are improving daily life stability.</a:t>
            </a:r>
          </a:p>
          <a:p>
            <a:pPr algn="l">
              <a:lnSpc>
                <a:spcPts val="5318"/>
              </a:lnSpc>
            </a:pPr>
          </a:p>
          <a:p>
            <a:pPr algn="l">
              <a:lnSpc>
                <a:spcPts val="5318"/>
              </a:lnSpc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5318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338355" y="2732858"/>
            <a:ext cx="7409794" cy="5562780"/>
            <a:chOff x="0" y="0"/>
            <a:chExt cx="8916670" cy="6694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5730" t="0" r="-573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41365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927724" y="658374"/>
            <a:ext cx="59649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45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Application &amp; Impact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455214" y="259623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545378" y="2689909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00604" y="2273436"/>
            <a:ext cx="7129437" cy="626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  <a:r>
              <a:rPr lang="en-US" sz="4210" spc="-1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“existing, reliable data sources”.</a:t>
            </a: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  <a:r>
              <a:rPr lang="en-US" sz="4210" spc="-1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⁠No new infrastructure required</a:t>
            </a:r>
          </a:p>
          <a:p>
            <a:pPr algn="l">
              <a:lnSpc>
                <a:spcPts val="4926"/>
              </a:lnSpc>
            </a:pPr>
            <a:r>
              <a:rPr lang="en-US" sz="4210" spc="-1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⁠Works on standard cloud architecture</a:t>
            </a: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  <a:r>
              <a:rPr lang="en-US" sz="4210" spc="-1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 implementation-ready, not theoretical.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87119" y="562537"/>
            <a:ext cx="771376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45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Feasibility and tech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9836" y="2984500"/>
            <a:ext cx="6182090" cy="422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167" b="true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stack: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 spc="-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⁠Fast</a:t>
            </a:r>
            <a:r>
              <a:rPr lang="en-US" sz="3999" spc="-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backend</a:t>
            </a:r>
          </a:p>
          <a:p>
            <a:pPr algn="l">
              <a:lnSpc>
                <a:spcPts val="5599"/>
              </a:lnSpc>
            </a:pPr>
            <a:r>
              <a:rPr lang="en-US" sz="3999" spc="-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⁠React-based frontend</a:t>
            </a:r>
          </a:p>
          <a:p>
            <a:pPr algn="l">
              <a:lnSpc>
                <a:spcPts val="5599"/>
              </a:lnSpc>
            </a:pPr>
            <a:r>
              <a:rPr lang="en-US" sz="3999" spc="-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⁠PostgreSQL database</a:t>
            </a:r>
          </a:p>
          <a:p>
            <a:pPr algn="l">
              <a:lnSpc>
                <a:spcPts val="5599"/>
              </a:lnSpc>
            </a:pPr>
            <a:r>
              <a:rPr lang="en-US" sz="3999" spc="-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⁠Existing UPI payment systems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5636889" y="-5627185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14375"/>
              <a:ext cx="660400" cy="2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8546725" y="-2890427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953" y="2021417"/>
            <a:ext cx="6775229" cy="752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</a:p>
          <a:p>
            <a:pPr algn="l">
              <a:lnSpc>
                <a:spcPts val="3824"/>
              </a:lnSpc>
            </a:pPr>
            <a:r>
              <a:rPr lang="en-US" b="true" sz="3269" spc="-137">
                <a:gradFill>
                  <a:gsLst>
                    <a:gs pos="0">
                      <a:srgbClr val="9245C4">
                        <a:alpha val="100000"/>
                      </a:srgbClr>
                    </a:gs>
                    <a:gs pos="100000">
                      <a:srgbClr val="AD64DD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Horizontal scalability: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from one zone → multiple cities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logic works across all urban areas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824"/>
              </a:lnSpc>
            </a:pPr>
            <a:r>
              <a:rPr lang="en-US" sz="3269" spc="-137">
                <a:solidFill>
                  <a:srgbClr val="A453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scalability: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processing is asynchronous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supports real-time updates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 are lightweight and efficient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824"/>
              </a:lnSpc>
            </a:pPr>
            <a:r>
              <a:rPr lang="en-US" sz="3269" spc="-137">
                <a:solidFill>
                  <a:srgbClr val="A453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expansion: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⁠Other gig sectors (ride-hailing, logistics)</a:t>
            </a:r>
          </a:p>
          <a:p>
            <a:pPr algn="l" marL="588175" indent="-294087" lvl="1">
              <a:lnSpc>
                <a:spcPts val="3187"/>
              </a:lnSpc>
              <a:buFont typeface="Arial"/>
              <a:buChar char="•"/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environmental triggers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  <a:r>
              <a:rPr lang="en-US" sz="2724" spc="-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to scale with the gig economy.</a:t>
            </a:r>
          </a:p>
          <a:p>
            <a:pPr algn="l">
              <a:lnSpc>
                <a:spcPts val="3187"/>
              </a:lnSpc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803931" y="2681156"/>
            <a:ext cx="8356505" cy="6273508"/>
            <a:chOff x="0" y="0"/>
            <a:chExt cx="8916670" cy="6694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16004" t="0" r="-16004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311C5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52780" y="594611"/>
            <a:ext cx="77023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45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Scalability — How It Grows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974211" y="1954382"/>
            <a:ext cx="20236423" cy="663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⁠Gig workers face  unavoidable income disruptions.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</a:p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⁠Current systems do not address this problem.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</a:p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b="true" sz="3112" spc="-233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RaahiBima introduces: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⁠Automatic disruption detection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⁠Fair income loss calculation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compensation</a:t>
            </a:r>
          </a:p>
          <a:p>
            <a:pPr algn="ctr">
              <a:lnSpc>
                <a:spcPts val="4358"/>
              </a:lnSpc>
              <a:spcBef>
                <a:spcPct val="0"/>
              </a:spcBef>
            </a:pPr>
          </a:p>
          <a:p>
            <a:pPr algn="ctr" marL="672070" indent="-336035" lvl="1">
              <a:lnSpc>
                <a:spcPts val="435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12" spc="-233">
                <a:solidFill>
                  <a:srgbClr val="A453D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takeaway:</a:t>
            </a:r>
          </a:p>
          <a:p>
            <a:pPr algn="ctr" marL="672070" indent="-336035" lvl="1">
              <a:lnSpc>
                <a:spcPts val="4358"/>
              </a:lnSpc>
              <a:buFont typeface="Arial"/>
              <a:buChar char="•"/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shifting insurance from   “after damage”   to  “during disruption”.</a:t>
            </a:r>
          </a:p>
          <a:p>
            <a:pPr algn="ctr" marL="672070" indent="-336035" lvl="1">
              <a:lnSpc>
                <a:spcPts val="4358"/>
              </a:lnSpc>
              <a:buFont typeface="Arial"/>
              <a:buChar char="•"/>
            </a:pPr>
            <a:r>
              <a:rPr lang="en-US" sz="3112" spc="-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protecting assets to protecting livelihoods.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28660" y="282591"/>
            <a:ext cx="19545320" cy="111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4"/>
              </a:lnSpc>
              <a:spcBef>
                <a:spcPct val="0"/>
              </a:spcBef>
            </a:pPr>
            <a:r>
              <a:rPr lang="en-US" sz="6460" spc="-484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DAHEf_Eu_-M</dc:identifier>
  <dcterms:modified xsi:type="dcterms:W3CDTF">2011-08-01T06:04:30Z</dcterms:modified>
  <cp:revision>1</cp:revision>
  <dc:title>Pitch Deck</dc:title>
</cp:coreProperties>
</file>